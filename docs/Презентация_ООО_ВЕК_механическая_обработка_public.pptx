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v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2249424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2588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8B3BF"/>
                </a:solidFill>
                <a:latin typeface="Segoe UI"/>
                <a:ea typeface="Segoe UI"/>
              </a:rPr>
              <a:t>ООО «ВЕК»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67665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A"/>
                </a:solidFill>
                <a:latin typeface="Segoe UI"/>
                <a:ea typeface="Segoe UI"/>
              </a:rPr>
              <a:t>Высокоточная механическая обработка деталей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1417320" cy="6400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6492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Segoe UI"/>
                <a:ea typeface="Segoe UI"/>
              </a:rPr>
              <a:t>Производственный участок в Санкт-Петербурге.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34840"/>
            <a:ext cx="6583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Изготовление деталей по чертежам, КД, техническим заданиям и иной исходной документации заказчика.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О компании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A"/>
                </a:solidFill>
                <a:latin typeface="Segoe UI"/>
                <a:ea typeface="Segoe UI"/>
              </a:rPr>
              <a:t>ООО «ВЕК» — производственное предприятие в Санкт-Петербурге.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5852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Одно из направлений деятельности компании — механическая обработка деталей на токарно-фрезерных и фрезерных обрабатывающих центрах с ЧПУ.
Участок закрывает путь от подготовки заготовок и технологии до обработки, постобработки и контроля готовых деталей.</a:t>
            </a:r>
          </a:p>
        </p:txBody>
      </p:sp>
      <p:pic>
        <p:nvPicPr>
          <p:cNvPr id="10" name="Picture 9" descr="abo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97280"/>
            <a:ext cx="5349240" cy="39776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5989320"/>
            <a:ext cx="2194560" cy="73152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10819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собственный участок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989320"/>
            <a:ext cx="2194560" cy="73152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610819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станки с ЧПУ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5989320"/>
            <a:ext cx="2194560" cy="73152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610819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технологическая подготовка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5989320"/>
            <a:ext cx="2194560" cy="73152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610819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контроль качества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59" y="5989320"/>
            <a:ext cx="2194560" cy="73152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59" y="610819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документация заказчика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Какие задачи закрываем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623560" cy="20574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4416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5AA8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8308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Изготовить деталь по документации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23160"/>
            <a:ext cx="5074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7D0DA"/>
                </a:solidFill>
                <a:latin typeface="Segoe UI"/>
                <a:ea typeface="Segoe UI"/>
              </a:rPr>
              <a:t>Работаем по чертежам, КД, ТЗ и иной исходной документации заказчика.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623560" cy="20574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34416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5AA8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78308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Совместить несколько операций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423160"/>
            <a:ext cx="5074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7D0DA"/>
                </a:solidFill>
                <a:latin typeface="Segoe UI"/>
                <a:ea typeface="Segoe UI"/>
              </a:rPr>
              <a:t>Используем токарно-фрезерные и фрезерные центры с ЧПУ.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5623560" cy="20574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58444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5AA8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02336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Оценить технологичность заранее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663440"/>
            <a:ext cx="5074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7D0DA"/>
                </a:solidFill>
                <a:latin typeface="Segoe UI"/>
                <a:ea typeface="Segoe UI"/>
              </a:rPr>
              <a:t>Анализируем задачу до запуска в производство.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383280"/>
            <a:ext cx="5623560" cy="20574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58444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5AA8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02336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Проверить готовые детали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663440"/>
            <a:ext cx="5074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7D0DA"/>
                </a:solidFill>
                <a:latin typeface="Segoe UI"/>
                <a:ea typeface="Segoe UI"/>
              </a:rPr>
              <a:t>Используем собственную измерительную базу.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B3BF"/>
                </a:solidFill>
                <a:latin typeface="Segoe UI"/>
                <a:ea typeface="Segoe UI"/>
              </a:rPr>
              <a:t>Формат работы с материалом обсуждается на этапе оценки заказа.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Что такое токарно-фрезерная обработка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04</a:t>
            </a:r>
          </a:p>
        </p:txBody>
      </p:sp>
      <p:pic>
        <p:nvPicPr>
          <p:cNvPr id="8" name="Picture 7" descr="tmde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560"/>
            <a:ext cx="5394960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1143000"/>
            <a:ext cx="58064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Токарно-фрезерная обработка позволяет совмещать операции точения и фрезерования на одном оборудовании.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14600"/>
            <a:ext cx="5806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Это важно для деталей, где кроме наружных и внутренних поверхностей вращения нужны отверстия, пазы, лыски, резьбы, торцевые элементы или фрезерованные участки.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160520"/>
            <a:ext cx="58064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За счёт совмещения операций можно уменьшить количество переустановок и точнее выдерживать взаимное расположение обработанных поверхностей.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5989320"/>
            <a:ext cx="91440" cy="6400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Одна установка — несколько операций.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Когда нужна токарно-фрезерная обработка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05</a:t>
            </a:r>
          </a:p>
        </p:txBody>
      </p:sp>
      <p:pic>
        <p:nvPicPr>
          <p:cNvPr id="8" name="Picture 7" descr="tmwh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051560"/>
            <a:ext cx="4206240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1097280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Токарно-фрезерную обработку рассматривают, когда деталь не является только токарной.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74519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основа детали — вал, втулка, фланец, штуцер или крышка вращения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кроме круглой геометрии нужны отверстия, пазы, лыски или фрезерованные элементы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важно сократить количество переустановок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требуется сохранить взаимное положение поверхностей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партия или повторяющиеся детали требуют стабильного маршрута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989320"/>
            <a:ext cx="91440" cy="6400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Маршрут всегда подбирается под конкретную геометрию детали.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Ось C, ось Y и приводной инструмент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Эти возможности превращают токарный центр в токарно-фрезерный.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3703320" cy="35204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3703320" cy="9144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Приводной инструмент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Сверлильные, резьбонарезные и фрезерные операции прямо в рабочей зоне станка.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83080"/>
            <a:ext cx="3703320" cy="35204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3703320" cy="9144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Ось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718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Поворот шпинделя: отверстия, пазы и элементы в заданном угловом положении.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3703320" cy="35204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3703320" cy="9144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205740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Ось 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9718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Смещение вне центральной оси: отверстия, пазы, лыски и сложная геометрия.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989320"/>
            <a:ext cx="91440" cy="6400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C задаёт угол. Y даёт смещение. Приводной инструмент выполняет фрезерные операции.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Контршпиндель и обработка второй стороны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07</a:t>
            </a:r>
          </a:p>
        </p:txBody>
      </p:sp>
      <p:pic>
        <p:nvPicPr>
          <p:cNvPr id="8" name="Picture 7" descr="subspind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51560"/>
            <a:ext cx="5257800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114300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Segoe UI"/>
                <a:ea typeface="Segoe UI"/>
              </a:rPr>
              <a:t>Контршпиндель — это второй шпиндель напротив основного. Он может перехватить деталь за уже обработанную сторону.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5852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Это позволяет выполнять обработку второго торца или обратной стороны без отдельной ручной переустановки.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94760"/>
            <a:ext cx="5852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Такой подход помогает сохранять базирование и повышать стабильность, если важна обработка с двух сторон.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5989320"/>
            <a:ext cx="91440" cy="6400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На участке такая возможность есть на PUMA 2600LSY.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Подача прутка и повторяющиеся детали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08</a:t>
            </a:r>
          </a:p>
        </p:txBody>
      </p:sp>
      <p:pic>
        <p:nvPicPr>
          <p:cNvPr id="8" name="Picture 7" descr="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51560"/>
            <a:ext cx="5257800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1143000"/>
            <a:ext cx="5852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Segoe UI"/>
                <a:ea typeface="Segoe UI"/>
              </a:rPr>
              <a:t>Устройство подачи прутка помогает организовать обработку деталей из пруткового материала.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5852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Станок может получать заготовку из прутка, выполнять операции обработки, отрезать деталь и переходить к следующей заготовке.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31920"/>
            <a:ext cx="5852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Это полезно для повторяющихся деталей, если геометрия, диаметр прутка и партия подходят под такой способ изготовления.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5989320"/>
            <a:ext cx="91440" cy="6400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Формат заготовки обсуждается на этапе оценки заказа.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Производственный участок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09</a:t>
            </a:r>
          </a:p>
        </p:txBody>
      </p:sp>
      <p:pic>
        <p:nvPicPr>
          <p:cNvPr id="8" name="Picture 7" descr="s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112"/>
            <a:ext cx="6126480" cy="59618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89320" y="896112"/>
            <a:ext cx="6208776" cy="596188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1463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1E5AA8"/>
                </a:solidFill>
                <a:latin typeface="Segoe UI"/>
                <a:ea typeface="Segoe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37160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токарно-фрезерных центров с ЧПУ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68880"/>
            <a:ext cx="1463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1E5AA8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9748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фрезерных центра с ЧПУ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977639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ОТК / технолог / программист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89120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0DA"/>
                </a:solidFill>
                <a:latin typeface="Segoe UI"/>
                <a:ea typeface="Segoe UI"/>
              </a:rPr>
              <a:t>Рабочие места контролёра ОТК, технолога и программиста на участке.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0749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Подготовка и постобработка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440680"/>
            <a:ext cx="5394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0DA"/>
                </a:solidFill>
                <a:latin typeface="Segoe UI"/>
                <a:ea typeface="Segoe UI"/>
              </a:rPr>
              <a:t>Ленточнопильный станок и стол подачи прутка, подготовка заготовок, постобработка, 2 винтовых компрессора, место хранения материала.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Общий вид производства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10</a:t>
            </a:r>
          </a:p>
        </p:txBody>
      </p:sp>
      <p:pic>
        <p:nvPicPr>
          <p:cNvPr id="8" name="Picture 7" descr="room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5715000" cy="5074920"/>
          </a:xfrm>
          <a:prstGeom prst="rect">
            <a:avLst/>
          </a:prstGeom>
        </p:spPr>
      </p:pic>
      <p:pic>
        <p:nvPicPr>
          <p:cNvPr id="9" name="Picture 8" descr="room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97280"/>
            <a:ext cx="5669280" cy="5074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263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B3BF"/>
                </a:solidFill>
                <a:latin typeface="Segoe UI"/>
                <a:ea typeface="Segoe UI"/>
              </a:rPr>
              <a:t>Общий вид первого помещения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263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B3BF"/>
                </a:solidFill>
                <a:latin typeface="Segoe UI"/>
                <a:ea typeface="Segoe UI"/>
              </a:rPr>
              <a:t>Общий вид второго помещения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Токарно-фрезерная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11</a:t>
            </a:r>
          </a:p>
        </p:txBody>
      </p:sp>
      <p:pic>
        <p:nvPicPr>
          <p:cNvPr id="8" name="Picture 7" descr="turnp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112"/>
            <a:ext cx="6537960" cy="59618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896112"/>
            <a:ext cx="5790895" cy="596188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14300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8B3BF"/>
                </a:solidFill>
                <a:latin typeface="Segoe UI"/>
                <a:ea typeface="Segoe UI"/>
              </a:rPr>
              <a:t>DN Solutions / Doosan и HAAS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8308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4F7FA"/>
                </a:solidFill>
                <a:latin typeface="Segoe UI"/>
                <a:ea typeface="Segoe UI"/>
              </a:rPr>
              <a:t>–  DN Solutions / Doosan PUMA 3050LM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A"/>
                </a:solidFill>
                <a:latin typeface="Segoe UI"/>
                <a:ea typeface="Segoe UI"/>
              </a:rPr>
              <a:t>–  HAAS ST-30Y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A"/>
                </a:solidFill>
                <a:latin typeface="Segoe UI"/>
                <a:ea typeface="Segoe UI"/>
              </a:rPr>
              <a:t>–  Doosan PUMA 2100 LY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A"/>
                </a:solidFill>
                <a:latin typeface="Segoe UI"/>
                <a:ea typeface="Segoe UI"/>
              </a:rPr>
              <a:t>–  DN Solutions / Doosan LYNX 225M-II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A"/>
                </a:solidFill>
                <a:latin typeface="Segoe UI"/>
                <a:ea typeface="Segoe UI"/>
              </a:rPr>
              <a:t>–  DN Solutions / Doosan PUMA 2600LSY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4348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5AA8"/>
                </a:solidFill>
                <a:latin typeface="Segoe UI"/>
                <a:ea typeface="Segoe UI"/>
              </a:rPr>
              <a:t>Что это даёт заказчику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8006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7D0DA"/>
                </a:solidFill>
                <a:latin typeface="Segoe UI"/>
                <a:ea typeface="Segoe UI"/>
              </a:rPr>
              <a:t>–  совмещение токарных и фрезерных операций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7D0DA"/>
                </a:solidFill>
                <a:latin typeface="Segoe UI"/>
                <a:ea typeface="Segoe UI"/>
              </a:rPr>
              <a:t>–  меньше переустановок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7D0DA"/>
                </a:solidFill>
                <a:latin typeface="Segoe UI"/>
                <a:ea typeface="Segoe UI"/>
              </a:rPr>
              <a:t>–  подбор маршрута под задачу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Фрезерная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12</a:t>
            </a:r>
          </a:p>
        </p:txBody>
      </p:sp>
      <p:pic>
        <p:nvPicPr>
          <p:cNvPr id="8" name="Picture 7" descr="m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112"/>
            <a:ext cx="6720840" cy="4160520"/>
          </a:xfrm>
          <a:prstGeom prst="rect">
            <a:avLst/>
          </a:prstGeom>
        </p:spPr>
      </p:pic>
      <p:pic>
        <p:nvPicPr>
          <p:cNvPr id="9" name="Picture 8" descr="rota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74920"/>
            <a:ext cx="6720840" cy="1783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0" y="896112"/>
            <a:ext cx="5614416" cy="596188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8872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8B3BF"/>
                </a:solidFill>
                <a:latin typeface="Segoe UI"/>
                <a:ea typeface="Segoe UI"/>
              </a:rPr>
              <a:t>Вертикально-фрезерные центры HAAS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6596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4F7FA"/>
                </a:solidFill>
                <a:latin typeface="Segoe UI"/>
                <a:ea typeface="Segoe UI"/>
              </a:rPr>
              <a:t>–  HAAS VF-2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7FA"/>
                </a:solidFill>
                <a:latin typeface="Segoe UI"/>
                <a:ea typeface="Segoe UI"/>
              </a:rPr>
              <a:t>–  HAAS VF-2SS с наклонно-поворотным столом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383280"/>
            <a:ext cx="5074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HAAS VF-2SS с наклонно-поворотным столом позволяет выполнять обработку деталей с нескольких сторон за одну установку.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Фрезерная обработка 3+2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13</a:t>
            </a:r>
          </a:p>
        </p:txBody>
      </p:sp>
      <p:pic>
        <p:nvPicPr>
          <p:cNvPr id="8" name="Picture 7" descr="32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51560"/>
            <a:ext cx="5257800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109728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HAAS VF-2SS с наклонно-поворотным столом расширяет возможности фрезерной обработки.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Обычный 3-осевой фрезер обрабатывает поверхности, доступные сверху. Для боковых сторон деталь часто приходится переустанавливать.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0040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Наклонно-поворотный стол поворачивает и наклоняет деталь, чтобы обрабатывать несколько сторон за одну установку.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34840"/>
            <a:ext cx="5852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Это важно для корпусных деталей, отверстий под разными углами, пазов и сложной пространственной геометрии.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5989320"/>
            <a:ext cx="91440" cy="6400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Меньше переустановок — стабильнее взаимное положение поверхностей.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Инженерная подготовка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14</a:t>
            </a:r>
          </a:p>
        </p:txBody>
      </p:sp>
      <p:pic>
        <p:nvPicPr>
          <p:cNvPr id="8" name="Picture 7" descr="e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715000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118872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F7FA"/>
                </a:solidFill>
                <a:latin typeface="Segoe UI"/>
                <a:ea typeface="Segoe UI"/>
              </a:rPr>
              <a:t>Технология важна не меньше станка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06040"/>
            <a:ext cx="1280160" cy="6400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54864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Для изготовления детали важны не только возможности оборудования, но и технологическая подготовка.
На участке есть рабочие места технолога и программиста: анализ документации, маршрут, инструмент и управляющие программы для станков с ЧПУ.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Работа с материалом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15</a:t>
            </a:r>
          </a:p>
        </p:txBody>
      </p:sp>
      <p:pic>
        <p:nvPicPr>
          <p:cNvPr id="8" name="Picture 7" descr="m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112"/>
            <a:ext cx="5943600" cy="59618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06440" y="896112"/>
            <a:ext cx="6391656" cy="596188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188720"/>
            <a:ext cx="5669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Segoe UI"/>
                <a:ea typeface="Segoe UI"/>
              </a:rPr>
              <a:t>Формат работы с материалом обсуждается на этапе оценки заказа.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514600"/>
            <a:ext cx="91440" cy="8229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5349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работа с материалом заказчика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611880"/>
            <a:ext cx="91440" cy="8229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611880"/>
            <a:ext cx="5349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подбор и закупка материала под задачу по согласованию условий заказа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709160"/>
            <a:ext cx="91440" cy="8229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709160"/>
            <a:ext cx="5349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входной контроль получаемых материалов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Путь от чертежа до готовой детали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148840" cy="21488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Документация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0DA"/>
                </a:solidFill>
                <a:latin typeface="Segoe UI"/>
                <a:ea typeface="Segoe UI"/>
              </a:rPr>
              <a:t>Чертёж, КД, ТЗ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31720" y="2011680"/>
            <a:ext cx="237744" cy="146304"/>
          </a:xfrm>
          <a:prstGeom prst="right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097280"/>
            <a:ext cx="2148840" cy="21488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20700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60020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Анализ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28600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0DA"/>
                </a:solidFill>
                <a:latin typeface="Segoe UI"/>
                <a:ea typeface="Segoe UI"/>
              </a:rPr>
              <a:t>Технологичность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09160" y="2011680"/>
            <a:ext cx="237744" cy="146304"/>
          </a:xfrm>
          <a:prstGeom prst="right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1097280"/>
            <a:ext cx="2148840" cy="21488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20700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60020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Подготовка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28600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0DA"/>
                </a:solidFill>
                <a:latin typeface="Segoe UI"/>
                <a:ea typeface="Segoe UI"/>
              </a:rPr>
              <a:t>Маршрут и УП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86600" y="2011680"/>
            <a:ext cx="237744" cy="146304"/>
          </a:xfrm>
          <a:prstGeom prst="right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097280"/>
            <a:ext cx="2148840" cy="21488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120700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0020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Изготовление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28600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0DA"/>
                </a:solidFill>
                <a:latin typeface="Segoe UI"/>
                <a:ea typeface="Segoe UI"/>
              </a:rPr>
              <a:t>Обработка на ЧПУ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64040" y="2011680"/>
            <a:ext cx="237744" cy="146304"/>
          </a:xfrm>
          <a:prstGeom prst="right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1097280"/>
            <a:ext cx="2148840" cy="21488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20700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60020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Контроль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28600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0DA"/>
                </a:solidFill>
                <a:latin typeface="Segoe UI"/>
                <a:ea typeface="Segoe UI"/>
              </a:rPr>
              <a:t>Проверка и передача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474720"/>
            <a:ext cx="11338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Segoe UI"/>
                <a:ea typeface="Segoe UI"/>
              </a:rPr>
              <a:t>На этапе анализа специалисты оценивают документацию, материал, геометрию детали, требования к обработке и контролю.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800600"/>
            <a:ext cx="11338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После этого выбирается маршрут изготовления: какие операции выполнять, на каком оборудовании, в какой последовательности и какие параметры проверять после обработки.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Контроль качества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17</a:t>
            </a:r>
          </a:p>
        </p:txBody>
      </p:sp>
      <p:pic>
        <p:nvPicPr>
          <p:cNvPr id="8" name="Picture 7" descr="q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112"/>
            <a:ext cx="7498079" cy="5961888"/>
          </a:xfrm>
          <a:prstGeom prst="rect">
            <a:avLst/>
          </a:prstGeom>
        </p:spPr>
      </p:pic>
      <p:pic>
        <p:nvPicPr>
          <p:cNvPr id="9" name="Picture 8" descr="qc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896112"/>
            <a:ext cx="4700016" cy="5961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Как контролируется результат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Segoe UI"/>
                <a:ea typeface="Segoe UI"/>
              </a:rPr>
              <a:t>Контроль выполняется не только как финальная формальность. Измерения могут использоваться при наладке, в процессе обработки и при проверке готовых деталей.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На участке есть рабочее место контролёра ОТК и собственная измерительная база.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80360"/>
            <a:ext cx="274320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цифровые микрометры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880360"/>
            <a:ext cx="274320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штангенциркули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80360"/>
            <a:ext cx="274320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высотомеры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2880360"/>
            <a:ext cx="274320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88036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угломеры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931920"/>
            <a:ext cx="274320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микроскопы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3931920"/>
            <a:ext cx="274320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93192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твердомеры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931920"/>
            <a:ext cx="274320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биениемер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3931920"/>
            <a:ext cx="274320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измеритель шероховатости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1206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8B3BF"/>
                </a:solidFill>
                <a:latin typeface="Segoe UI"/>
                <a:ea typeface="Segoe UI"/>
              </a:rPr>
              <a:t>Mahr, Mitutoyo, Tesa, Bowers, Planolith, Orion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989320"/>
            <a:ext cx="91440" cy="6400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Деталь не только изготавливается на ЧПУ, но и проверяется перед передачей заказчику.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Примеры выполненных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B3BF"/>
                </a:solidFill>
                <a:latin typeface="Segoe UI"/>
                <a:ea typeface="Segoe UI"/>
              </a:rPr>
              <a:t>ООО «ВЕК» изготавливает детали по документации заказчика. Назначение изделий не раскрывается, если оно не предназначено для публичного размещения.</a:t>
            </a:r>
          </a:p>
        </p:txBody>
      </p:sp>
      <p:pic>
        <p:nvPicPr>
          <p:cNvPr id="9" name="Picture 8" descr="w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08760"/>
            <a:ext cx="3840480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032" y="3593591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токарно-фрезерная обработка</a:t>
            </a:r>
          </a:p>
        </p:txBody>
      </p:sp>
      <p:pic>
        <p:nvPicPr>
          <p:cNvPr id="11" name="Picture 10" descr="w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508760"/>
            <a:ext cx="3840480" cy="20848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33672" y="3593591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фрезерная обработка</a:t>
            </a:r>
          </a:p>
        </p:txBody>
      </p:sp>
      <p:pic>
        <p:nvPicPr>
          <p:cNvPr id="13" name="Picture 12" descr="w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1" y="1508760"/>
            <a:ext cx="3840480" cy="20848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11311" y="3593591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корпусные детали</a:t>
            </a:r>
          </a:p>
        </p:txBody>
      </p:sp>
      <p:pic>
        <p:nvPicPr>
          <p:cNvPr id="15" name="Picture 14" descr="w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4023360"/>
            <a:ext cx="3840480" cy="20848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" y="6108191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детали сложной формы</a:t>
            </a:r>
          </a:p>
        </p:txBody>
      </p:sp>
      <p:pic>
        <p:nvPicPr>
          <p:cNvPr id="17" name="Picture 16" descr="w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672" y="4023360"/>
            <a:ext cx="3840480" cy="20848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33672" y="6108191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изготовление по КД заказчика</a:t>
            </a:r>
          </a:p>
        </p:txBody>
      </p:sp>
      <p:pic>
        <p:nvPicPr>
          <p:cNvPr id="19" name="Picture 18" descr="w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1" y="4023360"/>
            <a:ext cx="3840480" cy="20848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11311" y="6108191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контроль геометрии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Почему с ООО «ВЕК» удобно работать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20</a:t>
            </a:r>
          </a:p>
        </p:txBody>
      </p:sp>
      <p:pic>
        <p:nvPicPr>
          <p:cNvPr id="8" name="Picture 7" descr="w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112"/>
            <a:ext cx="5989320" cy="59618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1143000"/>
            <a:ext cx="562356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91440" cy="8686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43000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Собственный станочный парк — меньше зависимости от сторонних операций.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148840"/>
            <a:ext cx="562356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148840"/>
            <a:ext cx="91440" cy="8686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Технолог и программист на участке — задача оценивается до запуска.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54680"/>
            <a:ext cx="562356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91440" cy="8686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Токарно-фрезерные и фрезерные центры — маршрут под геометрию детали.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160520"/>
            <a:ext cx="562356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160520"/>
            <a:ext cx="91440" cy="8686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Измерительная база — параметры проверяются перед передачей.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5166360"/>
            <a:ext cx="5623560" cy="8686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5166360"/>
            <a:ext cx="91440" cy="8686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166360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F7FA"/>
                </a:solidFill>
                <a:latin typeface="Segoe UI"/>
                <a:ea typeface="Segoe UI"/>
              </a:rPr>
              <a:t>Работа по документации заказчика — детали не из каталога.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1536192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01168"/>
            <a:ext cx="8503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7FA"/>
                </a:solidFill>
                <a:latin typeface="Segoe UI"/>
                <a:ea typeface="Segoe UI"/>
              </a:rPr>
              <a:t>Что отправить для оценки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56032"/>
            <a:ext cx="1051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Segoe UI"/>
                <a:ea typeface="Segoe UI"/>
              </a:rPr>
              <a:t>Для первичной оценки желательно направить информацию, по которой можно понять геометрию детали, материал и задачу изготовления.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11338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чертёж, КД или техническое задание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требования к материалу и количество деталей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требования к покрытию или постобработке, если они есть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желаемые сроки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7D0DA"/>
                </a:solidFill>
                <a:latin typeface="Segoe UI"/>
                <a:ea typeface="Segoe UI"/>
              </a:rPr>
              <a:t>–  комментарии по назначению детали, если это важно для технологии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5989320"/>
            <a:ext cx="91440" cy="64008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Если часть информации отсутствует, задачу всё равно можно направить на предварительное обсуждение.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52360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2139696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28016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Segoe UI"/>
                <a:ea typeface="Segoe UI"/>
              </a:rPr>
              <a:t>ООО «ВЕК»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6583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0DA"/>
                </a:solidFill>
                <a:latin typeface="Segoe UI"/>
                <a:ea typeface="Segoe UI"/>
              </a:rPr>
              <a:t>Отправьте чертёж, КД, техническое задание или иную исходную документацию — специалисты ООО «ВЕК» оценят возможность изготовления.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Санкт-Петербург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06324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ул. Атаманская, д. 3/6, литера Ю, помещ. 6-Н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Телефон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70332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8 (911) 777-81-91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E-mail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34340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ooovek17@gmail.com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83479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Сайт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983479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будет добавлен после публикации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235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3BF"/>
                </a:solidFill>
                <a:latin typeface="Segoe UI"/>
                <a:ea typeface="Segoe UI"/>
              </a:rPr>
              <a:t>Режим работы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562356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Segoe UI"/>
                <a:ea typeface="Segoe UI"/>
              </a:rPr>
              <a:t>Пн–Пт: 9:00–18:00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